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6" r:id="rId4"/>
    <p:sldId id="261" r:id="rId5"/>
    <p:sldId id="262" r:id="rId6"/>
    <p:sldId id="263" r:id="rId7"/>
    <p:sldId id="267" r:id="rId8"/>
  </p:sldIdLst>
  <p:sldSz cx="9144000" cy="6858000" type="screen4x3"/>
  <p:notesSz cx="7102475" cy="1023302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31F07217-1C72-4FA0-A537-DF09528F73A2}">
          <p14:sldIdLst>
            <p14:sldId id="256"/>
            <p14:sldId id="257"/>
            <p14:sldId id="266"/>
            <p14:sldId id="261"/>
            <p14:sldId id="262"/>
            <p14:sldId id="263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jjY1qE25awvJeNglqm5z4jndqr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147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7739" cy="511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3092" y="0"/>
            <a:ext cx="3077739" cy="511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1980" cy="460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19598"/>
            <a:ext cx="3077739" cy="511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1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s-CO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1980" cy="460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1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CO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1980" cy="460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1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CO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2000" cy="46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fld id="{00000000-1234-1234-1234-123412341234}" type="slidenum">
              <a:rPr kumimoji="0" lang="es-CO" sz="1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  <a:tabLst/>
                <a:defRPr/>
              </a:pPr>
              <a:t>3</a:t>
            </a:fld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6:notes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2000" cy="46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CO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e7f6e5453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1e7f6e54539_1_0:notes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2000" cy="46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1e7f6e54539_1_0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CO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7:notes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2000" cy="46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CO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e7f6e5453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1e7f6e54539_1_0:notes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2000" cy="46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1e7f6e54539_1_0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fld id="{00000000-1234-1234-1234-123412341234}" type="slidenum">
              <a:rPr kumimoji="0" lang="es-CO" sz="1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  <a:tabLst/>
                <a:defRPr/>
              </a:pPr>
              <a:t>7</a:t>
            </a:fld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  <p:cxnSp>
        <p:nvCxnSpPr>
          <p:cNvPr id="21" name="Google Shape;21;p12"/>
          <p:cNvCxnSpPr/>
          <p:nvPr/>
        </p:nvCxnSpPr>
        <p:spPr>
          <a:xfrm>
            <a:off x="539552" y="6237312"/>
            <a:ext cx="7992888" cy="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2"/>
          <p:cNvCxnSpPr/>
          <p:nvPr/>
        </p:nvCxnSpPr>
        <p:spPr>
          <a:xfrm>
            <a:off x="539552" y="980728"/>
            <a:ext cx="7992888" cy="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  <p:cxnSp>
        <p:nvCxnSpPr>
          <p:cNvPr id="29" name="Google Shape;29;p13"/>
          <p:cNvCxnSpPr/>
          <p:nvPr/>
        </p:nvCxnSpPr>
        <p:spPr>
          <a:xfrm>
            <a:off x="467544" y="1484784"/>
            <a:ext cx="7992888" cy="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" name="Google Shape;30;p13"/>
          <p:cNvCxnSpPr/>
          <p:nvPr/>
        </p:nvCxnSpPr>
        <p:spPr>
          <a:xfrm>
            <a:off x="467544" y="6237312"/>
            <a:ext cx="7992888" cy="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1" name="Google Shape;71;p2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2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4" name="Google Shape;84;p2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Yeiner.martinez1@udea.edu.co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Leyder.marcillo@udea.edu.co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getaccess/pii/S0950705121009096/purchase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>
            <a:spLocks noGrp="1"/>
          </p:cNvSpPr>
          <p:nvPr>
            <p:ph type="ctrTitle"/>
          </p:nvPr>
        </p:nvSpPr>
        <p:spPr>
          <a:xfrm>
            <a:off x="685800" y="80684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s-MX" sz="4000" dirty="0"/>
              <a:t>C</a:t>
            </a:r>
            <a:r>
              <a:rPr lang="es-CO" sz="4000" dirty="0" err="1"/>
              <a:t>onteo</a:t>
            </a:r>
            <a:r>
              <a:rPr lang="es-CO" sz="4000" dirty="0"/>
              <a:t> de Hortensias en campo por bandeja</a:t>
            </a:r>
            <a:endParaRPr sz="4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>
            <a:spLocks noGrp="1"/>
          </p:cNvSpPr>
          <p:nvPr>
            <p:ph type="subTitle" idx="1"/>
          </p:nvPr>
        </p:nvSpPr>
        <p:spPr>
          <a:xfrm>
            <a:off x="971600" y="2276872"/>
            <a:ext cx="7304856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170"/>
              <a:buFont typeface="Arial"/>
              <a:buNone/>
            </a:pPr>
            <a:r>
              <a:rPr lang="es-CO" sz="217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FACULTAD DE INGENIERÍA</a:t>
            </a:r>
            <a:endParaRPr dirty="0"/>
          </a:p>
          <a:p>
            <a:pPr marL="0" marR="0" lvl="0" indent="0" algn="ctr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ts val="2170"/>
              <a:buFont typeface="Arial"/>
              <a:buNone/>
            </a:pPr>
            <a:r>
              <a:rPr lang="es-CO" sz="217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UNIVERSIDAD DE ANTIOQUIA</a:t>
            </a:r>
            <a:endParaRPr dirty="0"/>
          </a:p>
          <a:p>
            <a:pPr marL="0" marR="0" lvl="0" indent="0" algn="ctr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ts val="2170"/>
              <a:buFont typeface="Arial"/>
              <a:buNone/>
            </a:pPr>
            <a:r>
              <a:rPr lang="es-CO" sz="217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Departamento de Electrónica y Telecomunicaciones</a:t>
            </a:r>
            <a:endParaRPr lang="es-CO" sz="2170" dirty="0"/>
          </a:p>
          <a:p>
            <a:pPr marL="0" lvl="0" indent="0">
              <a:lnSpc>
                <a:spcPct val="80000"/>
              </a:lnSpc>
              <a:spcBef>
                <a:spcPts val="434"/>
              </a:spcBef>
              <a:buSzPts val="2170"/>
            </a:pPr>
            <a:r>
              <a:rPr lang="es-CO" sz="2170" dirty="0"/>
              <a:t>Segunda Tarea PDI</a:t>
            </a:r>
          </a:p>
          <a:p>
            <a:pPr marL="0" marR="0" lvl="0" indent="0" algn="ctr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ts val="2170"/>
              <a:buFont typeface="Arial"/>
              <a:buNone/>
            </a:pPr>
            <a:endParaRPr sz="2170" b="1" dirty="0">
              <a:solidFill>
                <a:srgbClr val="0000FF"/>
              </a:solidFill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ts val="2170"/>
              <a:buFont typeface="Arial"/>
              <a:buNone/>
            </a:pPr>
            <a:endParaRPr dirty="0"/>
          </a:p>
          <a:p>
            <a:pPr marL="0" marR="0" lvl="0" indent="0" algn="ctr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ts val="2170"/>
              <a:buFont typeface="Arial"/>
              <a:buNone/>
            </a:pPr>
            <a:r>
              <a:rPr lang="es-CO" sz="217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Semestre 2025</a:t>
            </a:r>
            <a:r>
              <a:rPr lang="es-CO" sz="2170" dirty="0"/>
              <a:t>-2</a:t>
            </a:r>
            <a:endParaRPr sz="2170" b="0" i="0" u="none" strike="noStrike" cap="none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rgbClr val="888888"/>
              </a:buClr>
              <a:buSzPts val="2480"/>
              <a:buFont typeface="Arial"/>
              <a:buNone/>
            </a:pPr>
            <a:endParaRPr sz="2480" b="0" i="0" u="none" strike="noStrike" cap="none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371600" y="4619397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</a:pPr>
            <a:r>
              <a:rPr lang="es-MX" sz="2400" dirty="0">
                <a:solidFill>
                  <a:srgbClr val="888888"/>
                </a:solidFill>
                <a:latin typeface="Calibri"/>
                <a:cs typeface="Calibri"/>
                <a:sym typeface="Calibri"/>
              </a:rPr>
              <a:t>L</a:t>
            </a:r>
            <a:r>
              <a:rPr lang="es-CO" sz="2400" dirty="0" err="1">
                <a:solidFill>
                  <a:srgbClr val="888888"/>
                </a:solidFill>
                <a:latin typeface="Calibri"/>
                <a:cs typeface="Calibri"/>
                <a:sym typeface="Calibri"/>
              </a:rPr>
              <a:t>eyder</a:t>
            </a:r>
            <a:r>
              <a:rPr lang="es-CO" sz="2400" dirty="0">
                <a:solidFill>
                  <a:srgbClr val="888888"/>
                </a:solidFill>
                <a:latin typeface="Calibri"/>
                <a:cs typeface="Calibri"/>
                <a:sym typeface="Calibri"/>
              </a:rPr>
              <a:t> Marcillo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</a:pPr>
            <a:r>
              <a:rPr lang="es-MX" sz="2400" b="0" i="0" u="none" strike="noStrike" cap="none" dirty="0">
                <a:solidFill>
                  <a:srgbClr val="888888"/>
                </a:solidFill>
                <a:latin typeface="Calibri"/>
                <a:ea typeface="Arial"/>
                <a:cs typeface="Calibri"/>
                <a:sym typeface="Calibri"/>
              </a:rPr>
              <a:t>Y</a:t>
            </a:r>
            <a:r>
              <a:rPr lang="es-CO" sz="2400" b="0" i="0" u="none" strike="noStrike" cap="none" dirty="0" err="1">
                <a:solidFill>
                  <a:srgbClr val="888888"/>
                </a:solidFill>
                <a:latin typeface="Calibri"/>
                <a:ea typeface="Arial"/>
                <a:cs typeface="Calibri"/>
                <a:sym typeface="Calibri"/>
              </a:rPr>
              <a:t>einer</a:t>
            </a:r>
            <a:r>
              <a:rPr lang="es-CO" sz="2400" b="0" i="0" u="none" strike="noStrike" cap="none" dirty="0">
                <a:solidFill>
                  <a:srgbClr val="888888"/>
                </a:solidFill>
                <a:latin typeface="Calibri"/>
                <a:ea typeface="Arial"/>
                <a:cs typeface="Calibri"/>
                <a:sym typeface="Calibri"/>
              </a:rPr>
              <a:t> Martínez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</a:pPr>
            <a:r>
              <a:rPr lang="es-MX" sz="2400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Y</a:t>
            </a:r>
            <a:r>
              <a:rPr lang="es-CO" sz="2400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einer.martinez1@udea.edu.co</a:t>
            </a:r>
            <a:endParaRPr lang="es-CO" sz="2400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ctr">
              <a:spcBef>
                <a:spcPts val="480"/>
              </a:spcBef>
              <a:buClr>
                <a:srgbClr val="888888"/>
              </a:buClr>
              <a:buSzPts val="2400"/>
            </a:pPr>
            <a:r>
              <a:rPr lang="es-MX" sz="240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Leyder.marcillo@udea.edu.co</a:t>
            </a:r>
            <a:endParaRPr lang="es-MX" sz="2400" b="0" i="0" u="none" strike="noStrike" cap="none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ctr">
              <a:spcBef>
                <a:spcPts val="480"/>
              </a:spcBef>
              <a:buClr>
                <a:srgbClr val="888888"/>
              </a:buClr>
              <a:buSzPts val="2400"/>
            </a:pPr>
            <a:endParaRPr sz="2400" b="0" i="0" u="none" strike="noStrike" cap="none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/>
        </p:nvSpPr>
        <p:spPr>
          <a:xfrm>
            <a:off x="609600" y="4270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90"/>
              <a:buFont typeface="Calibri"/>
              <a:buNone/>
            </a:pPr>
            <a:r>
              <a:rPr lang="es-CO" sz="429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Problema</a:t>
            </a:r>
            <a:endParaRPr sz="42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1079395" y="2060848"/>
            <a:ext cx="7290009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dirty="0"/>
              <a:t>El conteo manual de hortensias en cultivos requiere mucho tiempo y esfuerzo, lo que genera errores humanos y dificulta la gestión precisa de la producción.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dirty="0"/>
              <a:t>Se necesita un sistema automatizado de visión artificial que detecte y cuente </a:t>
            </a:r>
            <a:r>
              <a:rPr lang="es-MX" dirty="0">
                <a:latin typeface="+mn-lt"/>
              </a:rPr>
              <a:t>hortensias a partir de imágenes capturadas con un celular, diferenciando por color y tamaño.</a:t>
            </a:r>
            <a:endParaRPr b="0" i="0" u="none" strike="noStrike" cap="none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s-CO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ntecedentes</a:t>
            </a:r>
            <a:r>
              <a:rPr lang="es-CO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O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00150" marR="0" lvl="2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s-CO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s-CO" b="0" i="0" u="none" strike="noStrike" cap="none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Reconocimiento de frutas defectuosas</a:t>
            </a:r>
            <a:endParaRPr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1200150" lvl="2" indent="-285750"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s-CO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s-MX" dirty="0"/>
              <a:t>Uso de segmentación por color para conteo de flores en invernaderos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00150" marR="0" lvl="2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s-CO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s-CO" b="0" i="0" u="none" strike="noStrike" cap="none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Identificador tipo de flores</a:t>
            </a:r>
            <a:endParaRPr sz="1800" b="0" i="0" u="none" strike="noStrike" cap="none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813681" y="4941168"/>
            <a:ext cx="765837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4355976" y="6381328"/>
            <a:ext cx="46013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 txBox="1"/>
          <p:nvPr/>
        </p:nvSpPr>
        <p:spPr>
          <a:xfrm>
            <a:off x="609600" y="26681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90"/>
              <a:buFont typeface="Calibri"/>
              <a:buNone/>
              <a:tabLst/>
              <a:defRPr/>
            </a:pPr>
            <a:r>
              <a:rPr kumimoji="0" lang="es-CO" sz="429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Especificaciones técnicas de la fotografía</a:t>
            </a:r>
            <a:endParaRPr kumimoji="0" sz="429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5180875" y="1822200"/>
            <a:ext cx="3322200" cy="41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s-CO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Descripción técnica de la cámara: 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s-CO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1920×1080 (Full HD)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s-CO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Sensor CMOS</a:t>
            </a:r>
            <a:r>
              <a:rPr kumimoji="0" lang="es-CO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Formato de </a:t>
            </a:r>
            <a:r>
              <a:rPr kumimoji="0" lang="pt-BR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imagen</a:t>
            </a:r>
            <a:r>
              <a:rPr kumimoji="0" lang="pt-B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RAW o PNG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s-CO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Descripción Técnica 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del trípode: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Altura: 1.5 m sobre el plano de la bandeja.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Angulo de la cámara perpendicular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Una bandeja completa por toma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s-CO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Iluminación: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s-CO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Luz natural sin sombras.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s-CO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Mayor a 1500 lúmenes por m²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p4"/>
          <p:cNvCxnSpPr/>
          <p:nvPr/>
        </p:nvCxnSpPr>
        <p:spPr>
          <a:xfrm>
            <a:off x="4543425" y="1733550"/>
            <a:ext cx="0" cy="434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5" name="Google Shape;125;p4"/>
          <p:cNvSpPr txBox="1"/>
          <p:nvPr/>
        </p:nvSpPr>
        <p:spPr>
          <a:xfrm>
            <a:off x="609600" y="1816975"/>
            <a:ext cx="3152700" cy="39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Cámara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Trípode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Iluminación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 txBox="1"/>
          <p:nvPr/>
        </p:nvSpPr>
        <p:spPr>
          <a:xfrm>
            <a:off x="395536" y="33265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90"/>
              <a:buFont typeface="Calibri"/>
              <a:buNone/>
            </a:pPr>
            <a:r>
              <a:rPr lang="es-CO" sz="429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Solución: Conceptos</a:t>
            </a:r>
            <a:endParaRPr sz="429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0A99F99-C6BF-4933-88DF-0390984E2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8663" y="1543006"/>
            <a:ext cx="4406673" cy="45495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e7f6e54539_1_0"/>
          <p:cNvSpPr txBox="1"/>
          <p:nvPr/>
        </p:nvSpPr>
        <p:spPr>
          <a:xfrm>
            <a:off x="395536" y="33265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90"/>
              <a:buFont typeface="Calibri"/>
              <a:buNone/>
            </a:pPr>
            <a:r>
              <a:rPr lang="es-MX" sz="429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s-CO" sz="429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ISEÑO DE ALGORITMO BASE</a:t>
            </a:r>
            <a:endParaRPr sz="429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2C97EF5-E5E0-4376-B8F1-AE9FA2F26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97" y="1703826"/>
            <a:ext cx="3908972" cy="3450348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C80E8C1-9FC7-4A7D-892D-54D80C10BA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3053" y="1703826"/>
            <a:ext cx="4680704" cy="34503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"/>
          <p:cNvSpPr txBox="1"/>
          <p:nvPr/>
        </p:nvSpPr>
        <p:spPr>
          <a:xfrm>
            <a:off x="609600" y="26681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90"/>
              <a:buFont typeface="Calibri"/>
              <a:buNone/>
            </a:pPr>
            <a:r>
              <a:rPr lang="es-CO" sz="429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de actividades</a:t>
            </a:r>
            <a:endParaRPr sz="42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 txBox="1"/>
          <p:nvPr/>
        </p:nvSpPr>
        <p:spPr>
          <a:xfrm>
            <a:off x="6430725" y="1046525"/>
            <a:ext cx="2617200" cy="3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 txBox="1"/>
          <p:nvPr/>
        </p:nvSpPr>
        <p:spPr>
          <a:xfrm>
            <a:off x="1794500" y="5195650"/>
            <a:ext cx="55779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6394BFEB-0E3B-4032-9079-04003BAF5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428710"/>
              </p:ext>
            </p:extLst>
          </p:nvPr>
        </p:nvGraphicFramePr>
        <p:xfrm>
          <a:off x="315685" y="1238396"/>
          <a:ext cx="8512630" cy="5104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1161">
                  <a:extLst>
                    <a:ext uri="{9D8B030D-6E8A-4147-A177-3AD203B41FA5}">
                      <a16:colId xmlns:a16="http://schemas.microsoft.com/office/drawing/2014/main" val="2520090931"/>
                    </a:ext>
                  </a:extLst>
                </a:gridCol>
                <a:gridCol w="2123823">
                  <a:extLst>
                    <a:ext uri="{9D8B030D-6E8A-4147-A177-3AD203B41FA5}">
                      <a16:colId xmlns:a16="http://schemas.microsoft.com/office/drawing/2014/main" val="2359165285"/>
                    </a:ext>
                  </a:extLst>
                </a:gridCol>
                <a:gridCol w="2123823">
                  <a:extLst>
                    <a:ext uri="{9D8B030D-6E8A-4147-A177-3AD203B41FA5}">
                      <a16:colId xmlns:a16="http://schemas.microsoft.com/office/drawing/2014/main" val="2915120755"/>
                    </a:ext>
                  </a:extLst>
                </a:gridCol>
                <a:gridCol w="2123823">
                  <a:extLst>
                    <a:ext uri="{9D8B030D-6E8A-4147-A177-3AD203B41FA5}">
                      <a16:colId xmlns:a16="http://schemas.microsoft.com/office/drawing/2014/main" val="3898236062"/>
                    </a:ext>
                  </a:extLst>
                </a:gridCol>
              </a:tblGrid>
              <a:tr h="32890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Etapa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Actividad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Fechas 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Duración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5003891"/>
                  </a:ext>
                </a:extLst>
              </a:tr>
              <a:tr h="101959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1. Planeación y selección del proyecto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Elección del tema “Conteo de hortensias en campo (floricultura)”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22 – 31 de octubre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 Días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6053033"/>
                  </a:ext>
                </a:extLst>
              </a:tr>
              <a:tr h="78936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2. Análisis y descripción del problema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Descripción del problema humano y técnico, búsqueda de antecedentes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1 – 6 de noviembre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 Días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5289146"/>
                  </a:ext>
                </a:extLst>
              </a:tr>
              <a:tr h="55913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3. Desarrollo inicial del software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Diseño del algoritmo base (conteo de hortensias)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7 – 12 de noviembre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/>
                        <a:t>6 Días</a:t>
                      </a:r>
                      <a:endParaRPr lang="es-CO" dirty="0"/>
                    </a:p>
                    <a:p>
                      <a:pPr algn="ctr"/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144456"/>
                  </a:ext>
                </a:extLst>
              </a:tr>
              <a:tr h="55913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4. Implementación y pruebas del sistema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Mejora del código, segmentación por color y análisis por área.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13 – 19 de noviembre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/>
                        <a:t>7 Días</a:t>
                      </a:r>
                      <a:endParaRPr lang="es-CO" dirty="0"/>
                    </a:p>
                    <a:p>
                      <a:pPr algn="ctr"/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893573"/>
                  </a:ext>
                </a:extLst>
              </a:tr>
              <a:tr h="78936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5. Integración y validación de resultados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Medición del error (&lt;5%) y ajustes finales del modelo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20 de noviembre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/>
                        <a:t>1 Día</a:t>
                      </a:r>
                      <a:endParaRPr lang="es-CO" dirty="0"/>
                    </a:p>
                    <a:p>
                      <a:pPr algn="ctr"/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766220"/>
                  </a:ext>
                </a:extLst>
              </a:tr>
              <a:tr h="55913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6. Preparación de la entrega final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 Presentación y revisión final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21 de noviembre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/>
                        <a:t>1 Día</a:t>
                      </a:r>
                      <a:endParaRPr lang="es-CO" dirty="0"/>
                    </a:p>
                    <a:p>
                      <a:pPr algn="ctr"/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892915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89C211C-9A3A-79F5-CF60-E1243F386792}"/>
              </a:ext>
            </a:extLst>
          </p:cNvPr>
          <p:cNvSpPr txBox="1"/>
          <p:nvPr/>
        </p:nvSpPr>
        <p:spPr>
          <a:xfrm>
            <a:off x="560717" y="1664898"/>
            <a:ext cx="77896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CO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5EA249C-44E6-9AC0-7002-467776146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347" y="1664898"/>
            <a:ext cx="7835023" cy="2369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O" altLang="es-CO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Zheng, Y., Zhang, T., &amp; Fu, Y. (2022). A </a:t>
            </a:r>
            <a:r>
              <a:rPr kumimoji="0" lang="es-CO" altLang="es-CO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large-scale</a:t>
            </a:r>
            <a:r>
              <a:rPr kumimoji="0" lang="es-CO" altLang="es-CO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 </a:t>
            </a:r>
            <a:r>
              <a:rPr kumimoji="0" lang="es-CO" altLang="es-CO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hyperspectral</a:t>
            </a:r>
            <a:r>
              <a:rPr kumimoji="0" lang="es-CO" altLang="es-CO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 </a:t>
            </a:r>
            <a:r>
              <a:rPr kumimoji="0" lang="es-CO" altLang="es-CO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dataset</a:t>
            </a:r>
            <a:r>
              <a:rPr kumimoji="0" lang="es-CO" altLang="es-CO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 </a:t>
            </a:r>
            <a:r>
              <a:rPr kumimoji="0" lang="es-CO" altLang="es-CO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for</a:t>
            </a:r>
            <a:r>
              <a:rPr kumimoji="0" lang="es-CO" altLang="es-CO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 </a:t>
            </a:r>
            <a:r>
              <a:rPr kumimoji="0" lang="es-CO" altLang="es-CO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flower</a:t>
            </a:r>
            <a:r>
              <a:rPr kumimoji="0" lang="es-CO" altLang="es-CO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 </a:t>
            </a:r>
            <a:r>
              <a:rPr kumimoji="0" lang="es-CO" altLang="es-CO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classification</a:t>
            </a:r>
            <a:r>
              <a:rPr kumimoji="0" lang="es-CO" altLang="es-CO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. </a:t>
            </a:r>
            <a:r>
              <a:rPr kumimoji="0" lang="es-CO" altLang="es-CO" sz="14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Knowledge-Based</a:t>
            </a:r>
            <a:r>
              <a:rPr kumimoji="0" lang="es-CO" altLang="es-CO" sz="1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 </a:t>
            </a:r>
            <a:r>
              <a:rPr kumimoji="0" lang="es-CO" altLang="es-CO" sz="14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Systems</a:t>
            </a:r>
            <a:r>
              <a:rPr kumimoji="0" lang="es-CO" altLang="es-CO" sz="1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, 236</a:t>
            </a:r>
            <a:r>
              <a:rPr kumimoji="0" lang="es-CO" altLang="es-CO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, 107647.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3"/>
              </a:rPr>
              <a:t>Purchase A large-scale hyperspectral dataset for flower classification | ScienceDirect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CO" altLang="es-CO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Sundar, V. S., &amp;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Bagyamani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, J. (2015). </a:t>
            </a:r>
            <a:r>
              <a:rPr kumimoji="0" lang="en-US" sz="1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Flower counting in yield approximation using digital image processing techniques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 </a:t>
            </a:r>
            <a:r>
              <a:rPr kumimoji="0" lang="en-US" sz="1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International Journal of Advance Research in Science and Engineering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, 4(Special Issue 03), 97–102. https://ijarse.com/images/fullpdf/1427713455_11_research_paper.pdf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CO" altLang="es-CO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</p:txBody>
      </p:sp>
      <p:sp>
        <p:nvSpPr>
          <p:cNvPr id="7" name="Google Shape;122;p4">
            <a:extLst>
              <a:ext uri="{FF2B5EF4-FFF2-40B4-BE49-F238E27FC236}">
                <a16:creationId xmlns:a16="http://schemas.microsoft.com/office/drawing/2014/main" id="{237D13F0-E42B-5113-FF70-ACBFE8B64985}"/>
              </a:ext>
            </a:extLst>
          </p:cNvPr>
          <p:cNvSpPr txBox="1"/>
          <p:nvPr/>
        </p:nvSpPr>
        <p:spPr>
          <a:xfrm>
            <a:off x="560717" y="124728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O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Arial"/>
                <a:sym typeface="Arial"/>
              </a:rPr>
              <a:t>Bibliografía y webgrafía</a:t>
            </a:r>
            <a:endParaRPr kumimoji="0" lang="es-CO" sz="5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CO" sz="5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endParaRPr kumimoji="0" sz="429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440</Words>
  <Application>Microsoft Office PowerPoint</Application>
  <PresentationFormat>Presentación en pantalla (4:3)</PresentationFormat>
  <Paragraphs>86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Noto Sans Symbols</vt:lpstr>
      <vt:lpstr>Tema de Office</vt:lpstr>
      <vt:lpstr>Conteo de Hortensias en campo por bandeja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Conteo de Hortensias en campo</dc:title>
  <cp:lastModifiedBy>USUARIO</cp:lastModifiedBy>
  <cp:revision>15</cp:revision>
  <dcterms:modified xsi:type="dcterms:W3CDTF">2025-11-12T01:32:17Z</dcterms:modified>
</cp:coreProperties>
</file>